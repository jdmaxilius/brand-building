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947672"/>
            <a:ext cx="365760" cy="17780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2728" y="1828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C8A96A"/>
                </a:solidFill>
                <a:latin typeface="Space Grotesk"/>
              </a:rPr>
              <a:t>BRAND STRATEGY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1063447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ECE8DF"/>
                </a:solidFill>
                <a:latin typeface="Playfair Display"/>
              </a:rPr>
              <a:t>Elyoun</a:t>
            </a:r>
            <a:r>
              <a:rPr sz="9600" b="1" i="0">
                <a:solidFill>
                  <a:srgbClr val="C8A96A"/>
                </a:solidFill>
                <a:latin typeface="Playfair Display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ECE8DF"/>
                </a:solidFill>
                <a:latin typeface="Space Grotesk"/>
              </a:rPr>
              <a:t>Engineered to the highest standard.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806440"/>
            <a:ext cx="10634472" cy="12700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160">
                <a:solidFill>
                  <a:srgbClr val="9C988C"/>
                </a:solidFill>
                <a:latin typeface="Space Grotesk"/>
              </a:rPr>
              <a:t>PREMIUM AI &amp;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989320"/>
            <a:ext cx="5148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 spc="160">
                <a:solidFill>
                  <a:srgbClr val="9C988C"/>
                </a:solidFill>
                <a:latin typeface="Space Grotesk"/>
              </a:rPr>
              <a:t>CONSULTING · SAAS · APPS · GAMES · XR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65760" cy="17780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2728" y="56692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C8A96A"/>
                </a:solidFill>
                <a:latin typeface="Space Grotesk"/>
              </a:rPr>
              <a:t>01 — WHAT IS ELYOUN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344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1">
                <a:solidFill>
                  <a:srgbClr val="E3C98C"/>
                </a:solidFill>
                <a:latin typeface="Playfair Display"/>
              </a:rPr>
              <a:t>The highest standard, engineered.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9C988C"/>
                </a:solidFill>
                <a:latin typeface="Inter"/>
              </a:rPr>
              <a:t>Elyoun exists for organizations that hit the same wall: the gap between what they can imagine and what they can actually </a:t>
            </a:r>
            <a:r>
              <a:rPr sz="1500" b="1" i="0">
                <a:solidFill>
                  <a:srgbClr val="ECE8DF"/>
                </a:solidFill>
                <a:latin typeface="Inter"/>
              </a:rPr>
              <a:t>build</a:t>
            </a:r>
            <a:r>
              <a:rPr sz="1500" b="0" i="0">
                <a:solidFill>
                  <a:srgbClr val="9C988C"/>
                </a:solidFill>
                <a:latin typeface="Inter"/>
              </a:rPr>
              <a:t>. Agencies bill hours. Consultancies write decks. Outsourcers ship code that breaks at the edges that matter most — security, scale, mission-criticality.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072" y="233172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9C988C"/>
                </a:solidFill>
                <a:latin typeface="Inter"/>
              </a:rPr>
              <a:t>Elyoun does two rare things under one roof. It </a:t>
            </a:r>
            <a:r>
              <a:rPr sz="1500" b="1" i="0">
                <a:solidFill>
                  <a:srgbClr val="ECE8DF"/>
                </a:solidFill>
                <a:latin typeface="Inter"/>
              </a:rPr>
              <a:t>consults</a:t>
            </a:r>
            <a:r>
              <a:rPr sz="1500" b="0" i="0">
                <a:solidFill>
                  <a:srgbClr val="9C988C"/>
                </a:solidFill>
                <a:latin typeface="Inter"/>
              </a:rPr>
              <a:t> — embedding senior AI and software engineers into the hardest problems — and it </a:t>
            </a:r>
            <a:r>
              <a:rPr sz="1500" b="1" i="0">
                <a:solidFill>
                  <a:srgbClr val="ECE8DF"/>
                </a:solidFill>
                <a:latin typeface="Inter"/>
              </a:rPr>
              <a:t>ships its own products</a:t>
            </a:r>
            <a:r>
              <a:rPr sz="1500" b="0" i="0">
                <a:solidFill>
                  <a:srgbClr val="9C988C"/>
                </a:solidFill>
                <a:latin typeface="Inter"/>
              </a:rPr>
              <a:t>: SaaS, apps, websites, games, and XR simulation. It builds and operates its own products, so it brings product discipline and full ownership to client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65760" cy="17780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2728" y="56692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C8A96A"/>
                </a:solidFill>
                <a:latin typeface="Space Grotesk"/>
              </a:rPr>
              <a:t>02 — VISION &amp;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40">
                <a:solidFill>
                  <a:srgbClr val="C8A96A"/>
                </a:solidFill>
                <a:latin typeface="Space Grotesk"/>
              </a:rP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ECE8DF"/>
                </a:solidFill>
                <a:latin typeface="Playfair Display"/>
              </a:rPr>
              <a:t>The partner called when the work is too important to get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9C988C"/>
                </a:solidFill>
                <a:latin typeface="Inter"/>
              </a:rPr>
              <a:t>To become the engineering partner the world's most ambitious organizations rely on — built on elite craft, applied AI, and a refusal to ship anything less than production-grade.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12080"/>
            <a:ext cx="864108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8641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3C98C"/>
                </a:solidFill>
                <a:latin typeface="Space Grotesk"/>
              </a:rPr>
              <a:t>ELITE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51076" y="5212080"/>
            <a:ext cx="1056132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1076" y="5212080"/>
            <a:ext cx="10561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3C98C"/>
                </a:solidFill>
                <a:latin typeface="Space Grotesk"/>
              </a:rPr>
              <a:t>APPLIED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16936" y="5212080"/>
            <a:ext cx="1248156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5212080"/>
            <a:ext cx="12481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3C98C"/>
                </a:solidFill>
                <a:latin typeface="Space Grotesk"/>
              </a:rPr>
              <a:t>IMMERSIVE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4820" y="5212080"/>
            <a:ext cx="1056132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4820" y="5212080"/>
            <a:ext cx="10561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3C98C"/>
                </a:solidFill>
                <a:latin typeface="Space Grotesk"/>
              </a:rPr>
              <a:t>TRUSTED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2344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40">
                <a:solidFill>
                  <a:srgbClr val="C8A96A"/>
                </a:solidFill>
                <a:latin typeface="Space Grotesk"/>
              </a:rPr>
              <a:t>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64592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ECE8DF"/>
                </a:solidFill>
                <a:latin typeface="Playfair Display"/>
              </a:rPr>
              <a:t>Build what clients can't build alone — and stand behind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20040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9C988C"/>
                </a:solidFill>
                <a:latin typeface="Inter"/>
              </a:rPr>
              <a:t>Engineer the AI-powered software and immersive systems clients can't build in-house — from a founder's first SaaS to a defense-grade simulation — and own every system in production.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5212080"/>
            <a:ext cx="864108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5212080"/>
            <a:ext cx="8641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3C98C"/>
                </a:solidFill>
                <a:latin typeface="Space Grotesk"/>
              </a:rPr>
              <a:t>BUILD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4908" y="5212080"/>
            <a:ext cx="672084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4908" y="5212080"/>
            <a:ext cx="6720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3C98C"/>
                </a:solidFill>
                <a:latin typeface="Space Grotesk"/>
              </a:rPr>
              <a:t>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5212080"/>
            <a:ext cx="960120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5212080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3C98C"/>
                </a:solidFill>
                <a:latin typeface="Space Grotesk"/>
              </a:rPr>
              <a:t>SECURE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16568" y="5212080"/>
            <a:ext cx="1056132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6568" y="5212080"/>
            <a:ext cx="10561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3C98C"/>
                </a:solidFill>
                <a:latin typeface="Space Grotesk"/>
              </a:rPr>
              <a:t>ELEVATE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65760" cy="17780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2728" y="56692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C8A96A"/>
                </a:solidFill>
                <a:latin typeface="Space Grotesk"/>
              </a:rPr>
              <a:t>03 — BRAND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6344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CE8DF"/>
                </a:solidFill>
                <a:latin typeface="Space Grotesk"/>
              </a:rPr>
              <a:t>What Elyoun refuses to compromise.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392424" cy="192024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75688"/>
            <a:ext cx="38100" cy="1700784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216712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8A96A"/>
                </a:solidFill>
                <a:latin typeface="Space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2441448"/>
            <a:ext cx="2916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ECE8DF"/>
                </a:solidFill>
                <a:latin typeface="Space Grotesk"/>
              </a:rPr>
              <a:t>Engineering Excellence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990088"/>
            <a:ext cx="2916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88C"/>
                </a:solidFill>
                <a:latin typeface="Inter"/>
              </a:rPr>
              <a:t>Production-grade or it doesn't ship. The difference between a demo and a system is everything Elyoun sells.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965960"/>
            <a:ext cx="3392424" cy="192024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2075688"/>
            <a:ext cx="38100" cy="1700784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16712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8A96A"/>
                </a:solidFill>
                <a:latin typeface="Space Grotes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441448"/>
            <a:ext cx="2916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ECE8DF"/>
                </a:solidFill>
                <a:latin typeface="Space Grotesk"/>
              </a:rPr>
              <a:t>Partnership Over Vendorship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990088"/>
            <a:ext cx="2916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88C"/>
                </a:solidFill>
                <a:latin typeface="Inter"/>
              </a:rPr>
              <a:t>Embed, own outcomes, and tell the truth — including when an idea needs to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9288" y="1965960"/>
            <a:ext cx="3392424" cy="192024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2075688"/>
            <a:ext cx="38100" cy="1700784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216712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8A96A"/>
                </a:solidFill>
                <a:latin typeface="Space Grotes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441448"/>
            <a:ext cx="2916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ECE8DF"/>
                </a:solidFill>
                <a:latin typeface="Space Grotesk"/>
              </a:rPr>
              <a:t>Frontier Ambition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990088"/>
            <a:ext cx="2916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88C"/>
                </a:solidFill>
                <a:latin typeface="Inter"/>
              </a:rPr>
              <a:t>Work at the edge of AI, XR, and simulation — new capability as a craft, not a buzzword.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42232"/>
            <a:ext cx="3392424" cy="192024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251960"/>
            <a:ext cx="38100" cy="1700784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434340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8A96A"/>
                </a:solidFill>
                <a:latin typeface="Space Grotesk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4617720"/>
            <a:ext cx="2916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ECE8DF"/>
                </a:solidFill>
                <a:latin typeface="Space Grotesk"/>
              </a:rPr>
              <a:t>Trust &amp; Security by Default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" y="5166360"/>
            <a:ext cx="2916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88C"/>
                </a:solidFill>
                <a:latin typeface="Inter"/>
              </a:rPr>
              <a:t>Built to enterprise and defense standards from the first commit. Never an afterthought.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8264" y="4142232"/>
            <a:ext cx="3392424" cy="192024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98264" y="4251960"/>
            <a:ext cx="38100" cy="1700784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8" y="434340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8A96A"/>
                </a:solidFill>
                <a:latin typeface="Space Grotesk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4617720"/>
            <a:ext cx="2916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ECE8DF"/>
                </a:solidFill>
                <a:latin typeface="Space Grotesk"/>
              </a:rPr>
              <a:t>Craft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5166360"/>
            <a:ext cx="2916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88C"/>
                </a:solidFill>
                <a:latin typeface="Inter"/>
              </a:rPr>
              <a:t>Premium quality in the parts no one sees as much as the parts they do. The detail is the brand.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9288" y="4142232"/>
            <a:ext cx="3392424" cy="192024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4142232"/>
            <a:ext cx="3026664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1">
                <a:solidFill>
                  <a:srgbClr val="E3C98C"/>
                </a:solidFill>
                <a:latin typeface="Playfair Display"/>
              </a:rPr>
              <a:t>Excellence · Ownership · Frontier · Trust · Craft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65760" cy="17780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2728" y="56692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C8A96A"/>
                </a:solidFill>
                <a:latin typeface="Space Grotesk"/>
              </a:rPr>
              <a:t>04 — 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3447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ECE8DF"/>
                </a:solidFill>
                <a:latin typeface="Playfair Display"/>
              </a:rPr>
              <a:t>A consultancy that ships its own products —</a:t>
            </a:r>
          </a:p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E3C98C"/>
                </a:solidFill>
                <a:latin typeface="Playfair Display"/>
              </a:rPr>
              <a:t>so it builds yours like an owner.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383280"/>
            <a:ext cx="3392424" cy="237744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3621024"/>
            <a:ext cx="29169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E3C98C"/>
                </a:solidFill>
                <a:latin typeface="Space Grotesk"/>
              </a:rPr>
              <a:t>Build like owners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4572000"/>
            <a:ext cx="291693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9C988C"/>
                </a:solidFill>
                <a:latin typeface="Inter"/>
              </a:rPr>
              <a:t>Elyoun ships and runs its own SaaS and apps in production — so it brings product discipline and accountability, not billable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3383280"/>
            <a:ext cx="3392424" cy="237744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3621024"/>
            <a:ext cx="29169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E3C98C"/>
                </a:solidFill>
                <a:latin typeface="Space Grotesk"/>
              </a:rPr>
              <a:t>Production-grade, or it doesn't 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4572000"/>
            <a:ext cx="291693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9C988C"/>
                </a:solidFill>
                <a:latin typeface="Inter"/>
              </a:rPr>
              <a:t>Security, scale, reliability — the gap between a demo and a system is exactly what Elyoun sells. Pilots built to pass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9288" y="3383280"/>
            <a:ext cx="3392424" cy="237744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3621024"/>
            <a:ext cx="29169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E3C98C"/>
                </a:solidFill>
                <a:latin typeface="Space Grotesk"/>
              </a:rPr>
              <a:t>One partner, the full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4572000"/>
            <a:ext cx="291693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9C988C"/>
                </a:solidFill>
                <a:latin typeface="Inter"/>
              </a:rPr>
              <a:t>SaaS · apps · web · games · XR · simulation under one roof, to a single standard. No stitching together half-capable vendors.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65760" cy="17780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2728" y="56692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C8A96A"/>
                </a:solidFill>
                <a:latin typeface="Space Grotesk"/>
              </a:rPr>
              <a:t>05 —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CE8DF"/>
                </a:solidFill>
                <a:latin typeface="Playfair Display"/>
              </a:rPr>
              <a:t>The empty center.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4297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9C988C"/>
                </a:solidFill>
                <a:latin typeface="Inter"/>
              </a:rPr>
              <a:t>The market splits in two: trusted-but-heavy platform &amp; transformation players, and specialist studios with craft but little engineering rigor or security maturity. Buyers whose problems span both must stitch vendors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4297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i="0">
                <a:solidFill>
                  <a:srgbClr val="ECE8DF"/>
                </a:solidFill>
                <a:latin typeface="Inter"/>
              </a:rPr>
              <a:t>Elyoun occupies the gap</a:t>
            </a:r>
            <a:r>
              <a:rPr sz="1400" b="0" i="0">
                <a:solidFill>
                  <a:srgbClr val="9C988C"/>
                </a:solidFill>
                <a:latin typeface="Inter"/>
              </a:rPr>
              <a:t> — a single premium partner with engineering rigor and immersive/AI craft, that builds, secures, and owns the whole 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325880"/>
            <a:ext cx="5760720" cy="475488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5440680"/>
            <a:ext cx="4754880" cy="15240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783080"/>
            <a:ext cx="15240" cy="3657600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56235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C988C"/>
                </a:solidFill>
                <a:latin typeface="Space Grotesk"/>
              </a:rPr>
              <a:t>Generalist breadth   →   Specialist craft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5504688" y="3566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C988C"/>
                </a:solidFill>
                <a:latin typeface="Space Grotesk"/>
              </a:rPr>
              <a:t>Execution vendor   →   Strategic partner</a:t>
            </a:r>
          </a:p>
        </p:txBody>
      </p:sp>
      <p:sp>
        <p:nvSpPr>
          <p:cNvPr id="13" name="Oval 12"/>
          <p:cNvSpPr/>
          <p:nvPr/>
        </p:nvSpPr>
        <p:spPr>
          <a:xfrm>
            <a:off x="9080703" y="2685389"/>
            <a:ext cx="177800" cy="177800"/>
          </a:xfrm>
          <a:prstGeom prst="ellipse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15907" y="2655417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A8F"/>
                </a:solidFill>
                <a:latin typeface="Space Grotesk"/>
              </a:rPr>
              <a:t>Thoughtworks</a:t>
            </a:r>
          </a:p>
        </p:txBody>
      </p:sp>
      <p:sp>
        <p:nvSpPr>
          <p:cNvPr id="15" name="Oval 14"/>
          <p:cNvSpPr/>
          <p:nvPr/>
        </p:nvSpPr>
        <p:spPr>
          <a:xfrm>
            <a:off x="9461093" y="2240991"/>
            <a:ext cx="177800" cy="177800"/>
          </a:xfrm>
          <a:prstGeom prst="ellipse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2009" y="22110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6B7A8F"/>
                </a:solidFill>
                <a:latin typeface="Space Grotesk"/>
              </a:rPr>
              <a:t>Palantir</a:t>
            </a:r>
          </a:p>
        </p:txBody>
      </p:sp>
      <p:sp>
        <p:nvSpPr>
          <p:cNvPr id="17" name="Oval 16"/>
          <p:cNvSpPr/>
          <p:nvPr/>
        </p:nvSpPr>
        <p:spPr>
          <a:xfrm>
            <a:off x="7273848" y="2907588"/>
            <a:ext cx="177800" cy="177800"/>
          </a:xfrm>
          <a:prstGeom prst="ellipse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09052" y="287761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A8F"/>
                </a:solidFill>
                <a:latin typeface="Space Grotesk"/>
              </a:rPr>
              <a:t>Accenture / Slalom</a:t>
            </a:r>
          </a:p>
        </p:txBody>
      </p:sp>
      <p:sp>
        <p:nvSpPr>
          <p:cNvPr id="19" name="Oval 18"/>
          <p:cNvSpPr/>
          <p:nvPr/>
        </p:nvSpPr>
        <p:spPr>
          <a:xfrm>
            <a:off x="9556191" y="4092651"/>
            <a:ext cx="177800" cy="177800"/>
          </a:xfrm>
          <a:prstGeom prst="ellipse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7107" y="406267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6B7A8F"/>
                </a:solidFill>
                <a:latin typeface="Space Grotesk"/>
              </a:rPr>
              <a:t>XR / immersive studios</a:t>
            </a:r>
          </a:p>
        </p:txBody>
      </p:sp>
      <p:sp>
        <p:nvSpPr>
          <p:cNvPr id="21" name="Oval 20"/>
          <p:cNvSpPr/>
          <p:nvPr/>
        </p:nvSpPr>
        <p:spPr>
          <a:xfrm>
            <a:off x="9175800" y="4462983"/>
            <a:ext cx="177800" cy="177800"/>
          </a:xfrm>
          <a:prstGeom prst="ellipse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1004" y="4433011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A8F"/>
                </a:solidFill>
                <a:latin typeface="Space Grotesk"/>
              </a:rPr>
              <a:t>Game studios</a:t>
            </a:r>
          </a:p>
        </p:txBody>
      </p:sp>
      <p:sp>
        <p:nvSpPr>
          <p:cNvPr id="23" name="Oval 22"/>
          <p:cNvSpPr/>
          <p:nvPr/>
        </p:nvSpPr>
        <p:spPr>
          <a:xfrm>
            <a:off x="9864547" y="1851660"/>
            <a:ext cx="512064" cy="512064"/>
          </a:xfrm>
          <a:prstGeom prst="ellipse">
            <a:avLst/>
          </a:prstGeom>
          <a:solidFill>
            <a:srgbClr val="C8A96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8179" y="1955292"/>
            <a:ext cx="304800" cy="304800"/>
          </a:xfrm>
          <a:prstGeom prst="ellipse">
            <a:avLst/>
          </a:prstGeom>
          <a:solidFill>
            <a:srgbClr val="E3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2595" y="19888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E3C98C"/>
                </a:solidFill>
                <a:latin typeface="Space Grotesk"/>
              </a:rPr>
              <a:t>Elyoun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65760" cy="17780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2728" y="56692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C8A96A"/>
                </a:solidFill>
                <a:latin typeface="Space Grotesk"/>
              </a:rPr>
              <a:t>06 — TARGET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6344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ECE8DF"/>
                </a:solidFill>
                <a:latin typeface="Space Grotesk"/>
              </a:rPr>
              <a:t>Ambitious organizations with problems too important to outsource cheaply.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1152144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15214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CE8DF"/>
                </a:solidFill>
                <a:latin typeface="Space Grotesk"/>
              </a:rPr>
              <a:t>FOUNDERS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39112" y="2240280"/>
            <a:ext cx="1344168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9112" y="2240280"/>
            <a:ext cx="13441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CE8DF"/>
                </a:solidFill>
                <a:latin typeface="Space Grotesk"/>
              </a:rPr>
              <a:t>ENTERPRISE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2240280"/>
            <a:ext cx="1440180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2240280"/>
            <a:ext cx="14401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CE8DF"/>
                </a:solidFill>
                <a:latin typeface="Space Grotesk"/>
              </a:rPr>
              <a:t>THEME PARKS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2916" y="2240280"/>
            <a:ext cx="1536192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2916" y="2240280"/>
            <a:ext cx="15361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CE8DF"/>
                </a:solidFill>
                <a:latin typeface="Space Grotesk"/>
              </a:rPr>
              <a:t>GAME STUDIOS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88836" y="2240280"/>
            <a:ext cx="1632204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8836" y="2240280"/>
            <a:ext cx="16322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CE8DF"/>
                </a:solidFill>
                <a:latin typeface="Space Grotesk"/>
              </a:rPr>
              <a:t>DEFENSE / GOV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926080"/>
            <a:ext cx="3392424" cy="310896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3145536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CE8DF"/>
                </a:solidFill>
                <a:latin typeface="Space Grotesk"/>
              </a:rPr>
              <a:t>Maya, 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3529584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8A96A"/>
                </a:solidFill>
                <a:latin typeface="Space Grotesk"/>
              </a:rPr>
              <a:t>Founder &amp; CEO · seed-stage AI SaaS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4023360"/>
            <a:ext cx="2916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CFC9BC"/>
                </a:solidFill>
                <a:latin typeface="Playfair Display"/>
              </a:rPr>
              <a:t>“I don't need a dev shop. I need a team that's actually built and run a product like the one I'm betting the company on.”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" y="5394960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3C98C"/>
                </a:solidFill>
                <a:latin typeface="Inter"/>
              </a:rPr>
              <a:t>→ Builders, not billers.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2926080"/>
            <a:ext cx="3392424" cy="310896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3145536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CE8DF"/>
                </a:solidFill>
                <a:latin typeface="Space Grotesk"/>
              </a:rPr>
              <a:t>David, 47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3529584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8A96A"/>
                </a:solidFill>
                <a:latin typeface="Space Grotesk"/>
              </a:rPr>
              <a:t>Chief Innovation Officer · 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023360"/>
            <a:ext cx="2916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CFC9BC"/>
                </a:solidFill>
                <a:latin typeface="Playfair Display"/>
              </a:rPr>
              <a:t>“I've seen a hundred AI pilots. I need one that goes to production and passes security review.”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5394960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3C98C"/>
                </a:solidFill>
                <a:latin typeface="Inter"/>
              </a:rPr>
              <a:t>→ Product-grade AI, security by default.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9288" y="2926080"/>
            <a:ext cx="3392424" cy="310896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3145536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CE8DF"/>
                </a:solidFill>
                <a:latin typeface="Space Grotesk"/>
              </a:rPr>
              <a:t>Colonel R., 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3529584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8A96A"/>
                </a:solidFill>
                <a:latin typeface="Space Grotesk"/>
              </a:rPr>
              <a:t>Program Director · defense 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4023360"/>
            <a:ext cx="2916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CFC9BC"/>
                </a:solidFill>
                <a:latin typeface="Playfair Display"/>
              </a:rPr>
              <a:t>“I'm not buying a tech demo. I'm buying a system my people will train on, with a partner I can trust.”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5394960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3C98C"/>
                </a:solidFill>
                <a:latin typeface="Inter"/>
              </a:rPr>
              <a:t>→ Frontier craft, mission-critical standards.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65760" cy="17780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2728" y="56692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C8A96A"/>
                </a:solidFill>
                <a:latin typeface="Space Grotesk"/>
              </a:rPr>
              <a:t>07 — 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634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CE8DF"/>
                </a:solidFill>
                <a:latin typeface="Space Grotesk"/>
              </a:rPr>
              <a:t>Each rival owns half the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8A96A"/>
                </a:solidFill>
                <a:latin typeface="Space Grotesk"/>
              </a:rPr>
              <a:t>PLAYER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8A96A"/>
                </a:solidFill>
                <a:latin typeface="Space Grotesk"/>
              </a:rPr>
              <a:t>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874519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8A96A"/>
                </a:solidFill>
                <a:latin typeface="Space Grotesk"/>
              </a:rPr>
              <a:t>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874519"/>
            <a:ext cx="2862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8A96A"/>
                </a:solidFill>
                <a:latin typeface="Space Grotesk"/>
              </a:rPr>
              <a:t>HOW ELYOUN DIFFERS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2990087"/>
            <a:ext cx="10744200" cy="10160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58567"/>
            <a:ext cx="2286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CE8DF"/>
                </a:solidFill>
                <a:latin typeface="Space Grotesk"/>
              </a:rPr>
              <a:t>Palantir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258567"/>
            <a:ext cx="2926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Mission-critical trust, powerful platforms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258567"/>
            <a:ext cx="2560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Platform-bound; thin on bespoke / immersive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258567"/>
            <a:ext cx="286207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Full-stack build partner, not one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3776471"/>
            <a:ext cx="10744200" cy="10160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44951"/>
            <a:ext cx="2286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CE8DF"/>
                </a:solidFill>
                <a:latin typeface="Space Grotesk"/>
              </a:rPr>
              <a:t>Thoughtworks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044951"/>
            <a:ext cx="2926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Engineering craft, enterprise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044951"/>
            <a:ext cx="2560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Consulting-only; no products; light on XR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044951"/>
            <a:ext cx="286207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Ships &amp; runs its own products; reaches XR/defense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" y="4562855"/>
            <a:ext cx="10744200" cy="10160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31335"/>
            <a:ext cx="2286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CE8DF"/>
                </a:solidFill>
                <a:latin typeface="Space Grotesk"/>
              </a:rPr>
              <a:t>Accenture / Slalom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831335"/>
            <a:ext cx="2926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Reach, breadth, relationships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831335"/>
            <a:ext cx="2560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Generalist; variable seniority at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831335"/>
            <a:ext cx="286207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Senior, selective, craft-first — depth over scale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" y="5349239"/>
            <a:ext cx="10744200" cy="10160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617719"/>
            <a:ext cx="2286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CE8DF"/>
                </a:solidFill>
                <a:latin typeface="Space Grotesk"/>
              </a:rPr>
              <a:t>Immersive / XR studios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617719"/>
            <a:ext cx="2926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Experiential craft, storytelling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617719"/>
            <a:ext cx="2560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Light AI/eng rigor &amp;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617719"/>
            <a:ext cx="286207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Brings software/AI &amp; security rigor to immersive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" y="5349239"/>
            <a:ext cx="10744200" cy="786384"/>
          </a:xfrm>
          <a:prstGeom prst="roundRect">
            <a:avLst>
              <a:gd name="adj" fmla="val 6000"/>
            </a:avLst>
          </a:prstGeom>
          <a:solidFill>
            <a:srgbClr val="272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" y="6135623"/>
            <a:ext cx="10744200" cy="10160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404103"/>
            <a:ext cx="2286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3C98C"/>
                </a:solidFill>
                <a:latin typeface="Space Grotesk"/>
              </a:rPr>
              <a:t>Elyoun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404103"/>
            <a:ext cx="2926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ECE8DF"/>
                </a:solidFill>
                <a:latin typeface="Inter"/>
              </a:rPr>
              <a:t>Craft + rigor + ownership, full range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5404103"/>
            <a:ext cx="2560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ECE8DF"/>
                </a:solidFill>
                <a:latin typeface="Inter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5404103"/>
            <a:ext cx="286207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ECE8DF"/>
                </a:solidFill>
                <a:latin typeface="Inter"/>
              </a:rPr>
              <a:t>The single premium partner that spans it 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65760" cy="17780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2728" y="56692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C8A96A"/>
                </a:solidFill>
                <a:latin typeface="Space Grotesk"/>
              </a:rPr>
              <a:t>08 — PERSONALITY &amp;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6344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ECE8DF"/>
                </a:solidFill>
                <a:latin typeface="Playfair Display"/>
              </a:rPr>
              <a:t>The expert who doesn't need to </a:t>
            </a:r>
            <a:r>
              <a:rPr sz="3800" b="1" i="1">
                <a:solidFill>
                  <a:srgbClr val="E3C98C"/>
                </a:solidFill>
                <a:latin typeface="Playfair Display"/>
              </a:rPr>
              <a:t>impress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1056132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10561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CE8DF"/>
                </a:solidFill>
                <a:latin typeface="Space Grotesk"/>
              </a:rPr>
              <a:t>SERIOUS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43100" y="2514600"/>
            <a:ext cx="960120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3100" y="2514600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CE8DF"/>
                </a:solidFill>
                <a:latin typeface="Space Grotesk"/>
              </a:rPr>
              <a:t>FORMAL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2948" y="2514600"/>
            <a:ext cx="1056132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2948" y="2514600"/>
            <a:ext cx="10561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CE8DF"/>
                </a:solidFill>
                <a:latin typeface="Space Grotesk"/>
              </a:rPr>
              <a:t>PREMIUM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8808" y="2514600"/>
            <a:ext cx="1344168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8808" y="2514600"/>
            <a:ext cx="13441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CE8DF"/>
                </a:solidFill>
                <a:latin typeface="Space Grotesk"/>
              </a:rPr>
              <a:t>INNOVATIVE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32704" y="2514600"/>
            <a:ext cx="768096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8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2514600"/>
            <a:ext cx="7680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60">
                <a:solidFill>
                  <a:srgbClr val="ECE8DF"/>
                </a:solidFill>
                <a:latin typeface="Space Grotesk"/>
              </a:rPr>
              <a:t>BOLD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00400"/>
            <a:ext cx="3392424" cy="1325880"/>
          </a:xfrm>
          <a:prstGeom prst="roundRect">
            <a:avLst>
              <a:gd name="adj" fmla="val 6000"/>
            </a:avLst>
          </a:prstGeom>
          <a:solidFill>
            <a:srgbClr val="1B1B22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3364992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3C98C"/>
                </a:solidFill>
                <a:latin typeface="Space Grotesk"/>
              </a:rPr>
              <a:t>Precise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3749040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Says exactly what it means and quantifies where it can. Vagueness is a tell.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98264" y="3200400"/>
            <a:ext cx="3392424" cy="1325880"/>
          </a:xfrm>
          <a:prstGeom prst="roundRect">
            <a:avLst>
              <a:gd name="adj" fmla="val 6000"/>
            </a:avLst>
          </a:prstGeom>
          <a:solidFill>
            <a:srgbClr val="1B1B22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364992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3C98C"/>
                </a:solidFill>
                <a:latin typeface="Space Grotesk"/>
              </a:rPr>
              <a:t>Confident, not 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749040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Authority from substance, not volume. States; doesn't sell hard.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9288" y="3200400"/>
            <a:ext cx="3392424" cy="1325880"/>
          </a:xfrm>
          <a:prstGeom prst="roundRect">
            <a:avLst>
              <a:gd name="adj" fmla="val 6000"/>
            </a:avLst>
          </a:prstGeom>
          <a:solidFill>
            <a:srgbClr val="1B1B22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3364992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3C98C"/>
                </a:solidFill>
                <a:latin typeface="Space Grotesk"/>
              </a:rPr>
              <a:t>Hype-free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3749040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No buzzword inflation. If it can't be backed in production, it isn't said.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727448"/>
            <a:ext cx="3392424" cy="1325880"/>
          </a:xfrm>
          <a:prstGeom prst="roundRect">
            <a:avLst>
              <a:gd name="adj" fmla="val 6000"/>
            </a:avLst>
          </a:prstGeom>
          <a:solidFill>
            <a:srgbClr val="1B1B22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" y="489204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3C98C"/>
                </a:solidFill>
                <a:latin typeface="Space Grotesk"/>
              </a:rPr>
              <a:t>Outcome-oriented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" y="5276088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Centers what the client gets — shipped, secure, running.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8264" y="4727448"/>
            <a:ext cx="3392424" cy="1325880"/>
          </a:xfrm>
          <a:prstGeom prst="roundRect">
            <a:avLst>
              <a:gd name="adj" fmla="val 6000"/>
            </a:avLst>
          </a:prstGeom>
          <a:solidFill>
            <a:srgbClr val="1B1B22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89204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3C98C"/>
                </a:solidFill>
                <a:latin typeface="Space Grotesk"/>
              </a:rPr>
              <a:t>Trustworthy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276088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Plain about trade-offs and timelines. Honesty is the premium signal.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9288" y="4727448"/>
            <a:ext cx="3392424" cy="1325880"/>
          </a:xfrm>
          <a:prstGeom prst="roundRect">
            <a:avLst>
              <a:gd name="adj" fmla="val 6000"/>
            </a:avLst>
          </a:prstGeom>
          <a:solidFill>
            <a:srgbClr val="1B1B22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8744" y="4892040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3C98C"/>
                </a:solidFill>
                <a:latin typeface="Space Grotesk"/>
              </a:rPr>
              <a:t>Elevated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5276088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Every detail polished — the writing is a sample of the craft.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65760" cy="17780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2728" y="56692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C8A96A"/>
                </a:solidFill>
                <a:latin typeface="Space Grotesk"/>
              </a:rPr>
              <a:t>09 — MESSAGING &amp; TAGLINES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40">
                <a:solidFill>
                  <a:srgbClr val="C8A96A"/>
                </a:solidFill>
                <a:latin typeface="Space Grotesk"/>
              </a:rPr>
              <a:t>CORE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114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CE8DF"/>
                </a:solidFill>
                <a:latin typeface="Playfair Display"/>
              </a:rPr>
              <a:t>Turn the hardest ideas into production-grade AI &amp; immersive systems — by building like owners.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4114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9C988C"/>
                </a:solidFill>
                <a:latin typeface="Inter"/>
              </a:rPr>
              <a:t>One universal anchor; supporting messages flex per segment, every claim backed by proof.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371600"/>
            <a:ext cx="5897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40">
                <a:solidFill>
                  <a:srgbClr val="C8A96A"/>
                </a:solidFill>
                <a:latin typeface="Space Grotesk"/>
              </a:rPr>
              <a:t>TAGLINE DIRECTIONS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874519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3C98C"/>
                </a:solidFill>
                <a:latin typeface="Playfair Display"/>
              </a:rPr>
              <a:t>Engineered to the highest standard.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984247"/>
            <a:ext cx="914400" cy="310896"/>
          </a:xfrm>
          <a:prstGeom prst="roundRect">
            <a:avLst>
              <a:gd name="adj" fmla="val 6000"/>
            </a:avLst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1984247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60">
                <a:solidFill>
                  <a:srgbClr val="0A0A0C"/>
                </a:solidFill>
                <a:latin typeface="Space Grotesk"/>
              </a:rPr>
              <a:t>LEAD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2441447"/>
            <a:ext cx="5897880" cy="10160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2624327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CE8DF"/>
                </a:solidFill>
                <a:latin typeface="Playfair Display"/>
              </a:rPr>
              <a:t>Built like owners.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2624327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Campaign 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3191255"/>
            <a:ext cx="5897880" cy="10160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3374135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CE8DF"/>
                </a:solidFill>
                <a:latin typeface="Playfair Display"/>
              </a:rPr>
              <a:t>From idea to production. Secured.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3374135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Functional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3941063"/>
            <a:ext cx="5897880" cy="10160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4123943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CE8DF"/>
                </a:solidFill>
                <a:latin typeface="Playfair Display"/>
              </a:rPr>
              <a:t>Elite engineering. Applied.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4123943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Compact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4690871"/>
            <a:ext cx="5897880" cy="10160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4873751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CE8DF"/>
                </a:solidFill>
                <a:latin typeface="Playfair Display"/>
              </a:rPr>
              <a:t>Work too important to get wrong.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4873751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C988C"/>
                </a:solidFill>
                <a:latin typeface="Inter"/>
              </a:rPr>
              <a:t>Emotional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5440679"/>
            <a:ext cx="5897880" cy="10160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65760" cy="17780"/>
          </a:xfrm>
          <a:prstGeom prst="rect">
            <a:avLst/>
          </a:prstGeom>
          <a:solidFill>
            <a:srgbClr val="C8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2728" y="56692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C8A96A"/>
                </a:solidFill>
                <a:latin typeface="Space Grotesk"/>
              </a:rPr>
              <a:t>10 — HOW ELYOUN STANDS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447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600" b="1" i="0">
                <a:solidFill>
                  <a:srgbClr val="ECE8DF"/>
                </a:solidFill>
                <a:latin typeface="Playfair Display"/>
              </a:rPr>
              <a:t>Built for the </a:t>
            </a:r>
            <a:r>
              <a:rPr sz="5600" b="1" i="1">
                <a:solidFill>
                  <a:srgbClr val="E3C98C"/>
                </a:solidFill>
                <a:latin typeface="Playfair Display"/>
              </a:rPr>
              <a:t>fusion</a:t>
            </a:r>
          </a:p>
          <a:p>
            <a:pPr algn="l">
              <a:lnSpc>
                <a:spcPct val="102000"/>
              </a:lnSpc>
            </a:pPr>
            <a:r>
              <a:rPr sz="5600" b="1" i="0">
                <a:solidFill>
                  <a:srgbClr val="ECE8DF"/>
                </a:solidFill>
                <a:latin typeface="Playfair Display"/>
              </a:rPr>
              <a:t>others can only</a:t>
            </a:r>
          </a:p>
          <a:p>
            <a:pPr algn="l">
              <a:lnSpc>
                <a:spcPct val="102000"/>
              </a:lnSpc>
            </a:pPr>
            <a:r>
              <a:rPr sz="5600" b="1" i="0">
                <a:solidFill>
                  <a:srgbClr val="ECE8DF"/>
                </a:solidFill>
                <a:latin typeface="Playfair Display"/>
              </a:rPr>
              <a:t>half-deliver.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26280"/>
            <a:ext cx="7498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9C988C"/>
                </a:solidFill>
                <a:latin typeface="Inter"/>
              </a:rPr>
              <a:t>AI inside immersive. Games-quality realism inside defense training. Consumer polish inside mission-critical systems. The vendors built for the old, separate worlds each do half — Elyoun is built for the fusion, held to one standard: production-grade, secure, premium.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943600"/>
            <a:ext cx="10634472" cy="12700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126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E3C98C"/>
                </a:solidFill>
                <a:latin typeface="Playfair Display"/>
              </a:rPr>
              <a:t>Engineered to the highest standard.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6144768"/>
            <a:ext cx="3319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 spc="260">
                <a:solidFill>
                  <a:srgbClr val="9C988C"/>
                </a:solidFill>
                <a:latin typeface="Space Grotesk"/>
              </a:rPr>
              <a:t>ELYOUN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